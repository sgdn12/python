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92" r:id="rId5"/>
    <p:sldId id="259" r:id="rId6"/>
    <p:sldId id="268" r:id="rId7"/>
    <p:sldId id="260" r:id="rId8"/>
    <p:sldId id="270" r:id="rId9"/>
    <p:sldId id="261" r:id="rId10"/>
    <p:sldId id="273" r:id="rId11"/>
    <p:sldId id="275" r:id="rId12"/>
    <p:sldId id="262" r:id="rId13"/>
    <p:sldId id="277" r:id="rId14"/>
    <p:sldId id="279" r:id="rId15"/>
    <p:sldId id="263" r:id="rId16"/>
    <p:sldId id="280" r:id="rId17"/>
    <p:sldId id="281" r:id="rId18"/>
    <p:sldId id="264" r:id="rId19"/>
    <p:sldId id="282" r:id="rId20"/>
    <p:sldId id="265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yjs Ko" userId="0be62ec386614c3b" providerId="LiveId" clId="{1F049271-7189-4061-9DDE-8311715745AE}"/>
    <pc:docChg chg="custSel modSld">
      <pc:chgData name="Fyjs Ko" userId="0be62ec386614c3b" providerId="LiveId" clId="{1F049271-7189-4061-9DDE-8311715745AE}" dt="2026-06-11T10:18:43.563" v="42" actId="14100"/>
      <pc:docMkLst>
        <pc:docMk/>
      </pc:docMkLst>
      <pc:sldChg chg="modSp mod">
        <pc:chgData name="Fyjs Ko" userId="0be62ec386614c3b" providerId="LiveId" clId="{1F049271-7189-4061-9DDE-8311715745AE}" dt="2026-06-11T10:18:38.963" v="41" actId="20577"/>
        <pc:sldMkLst>
          <pc:docMk/>
          <pc:sldMk cId="54931822" sldId="256"/>
        </pc:sldMkLst>
        <pc:spChg chg="mod">
          <ac:chgData name="Fyjs Ko" userId="0be62ec386614c3b" providerId="LiveId" clId="{1F049271-7189-4061-9DDE-8311715745AE}" dt="2026-06-11T10:18:38.963" v="41" actId="20577"/>
          <ac:spMkLst>
            <pc:docMk/>
            <pc:sldMk cId="54931822" sldId="256"/>
            <ac:spMk id="3" creationId="{E8F7BE06-F844-3674-583A-CCA41D298C3C}"/>
          </ac:spMkLst>
        </pc:spChg>
      </pc:sldChg>
      <pc:sldChg chg="modSp mod">
        <pc:chgData name="Fyjs Ko" userId="0be62ec386614c3b" providerId="LiveId" clId="{1F049271-7189-4061-9DDE-8311715745AE}" dt="2026-06-11T10:18:43.563" v="42" actId="14100"/>
        <pc:sldMkLst>
          <pc:docMk/>
          <pc:sldMk cId="3979586133" sldId="258"/>
        </pc:sldMkLst>
        <pc:picChg chg="mod">
          <ac:chgData name="Fyjs Ko" userId="0be62ec386614c3b" providerId="LiveId" clId="{1F049271-7189-4061-9DDE-8311715745AE}" dt="2026-06-11T10:18:43.563" v="42" actId="14100"/>
          <ac:picMkLst>
            <pc:docMk/>
            <pc:sldMk cId="3979586133" sldId="258"/>
            <ac:picMk id="13" creationId="{7B9239AF-EFA2-C023-364D-2B518EE37A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89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42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80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3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44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13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155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62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1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26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078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2908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057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622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05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053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10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CFE555D-5261-47B3-B4A9-859681CFB1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10D65A9-7FEA-4730-8B5A-BD0D26C8B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63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72896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1F3756"/>
                </a:solidFill>
                <a:latin typeface="맑은 고딕"/>
              </a:rPr>
              <a:t>깃허브와 주사위 게임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337560"/>
            <a:ext cx="8229600" cy="21945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 dirty="0" err="1">
                <a:solidFill>
                  <a:srgbClr val="5A626C"/>
                </a:solidFill>
                <a:latin typeface="맑은 고딕"/>
              </a:rPr>
              <a:t>프로그래밍</a:t>
            </a:r>
            <a:r>
              <a:rPr sz="1800" b="0" dirty="0">
                <a:solidFill>
                  <a:srgbClr val="5A626C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5A626C"/>
                </a:solidFill>
                <a:latin typeface="맑은 고딕"/>
              </a:rPr>
              <a:t>입문</a:t>
            </a:r>
            <a:endParaRPr sz="1800" b="0" dirty="0">
              <a:solidFill>
                <a:srgbClr val="5A626C"/>
              </a:solidFill>
              <a:latin typeface="맑은 고딕"/>
            </a:endParaRPr>
          </a:p>
          <a:p>
            <a:pPr algn="ctr"/>
            <a:r>
              <a:rPr sz="1800" b="0" dirty="0">
                <a:solidFill>
                  <a:srgbClr val="5A626C"/>
                </a:solidFill>
                <a:latin typeface="맑은 고딕"/>
              </a:rPr>
              <a:t>2026964001 </a:t>
            </a:r>
            <a:r>
              <a:rPr sz="1800" b="0" dirty="0" err="1">
                <a:solidFill>
                  <a:srgbClr val="5A626C"/>
                </a:solidFill>
                <a:latin typeface="맑은 고딕"/>
              </a:rPr>
              <a:t>김동교</a:t>
            </a:r>
            <a:endParaRPr sz="1800" b="0" dirty="0">
              <a:solidFill>
                <a:srgbClr val="5A626C"/>
              </a:solidFill>
              <a:latin typeface="맑은 고딕"/>
            </a:endParaRPr>
          </a:p>
          <a:p>
            <a:pPr algn="ctr"/>
            <a:r>
              <a:rPr sz="1800" b="0" dirty="0" err="1">
                <a:solidFill>
                  <a:srgbClr val="5A626C"/>
                </a:solidFill>
                <a:latin typeface="맑은 고딕"/>
              </a:rPr>
              <a:t>제출일</a:t>
            </a:r>
            <a:r>
              <a:rPr sz="1800" b="0" dirty="0">
                <a:solidFill>
                  <a:srgbClr val="5A626C"/>
                </a:solidFill>
                <a:latin typeface="맑은 고딕"/>
              </a:rPr>
              <a:t>: 6월 12일</a:t>
            </a:r>
          </a:p>
          <a:p>
            <a:pPr algn="ctr"/>
            <a:r>
              <a:rPr sz="1800" b="0" dirty="0">
                <a:solidFill>
                  <a:srgbClr val="5A626C"/>
                </a:solidFill>
                <a:latin typeface="맑은 고딕"/>
              </a:rPr>
              <a:t>GitHub </a:t>
            </a:r>
            <a:r>
              <a:rPr sz="1800" b="0" dirty="0" err="1">
                <a:solidFill>
                  <a:srgbClr val="5A626C"/>
                </a:solidFill>
                <a:latin typeface="맑은 고딕"/>
              </a:rPr>
              <a:t>주소</a:t>
            </a:r>
            <a:r>
              <a:rPr sz="1800" b="0" dirty="0">
                <a:solidFill>
                  <a:srgbClr val="5A626C"/>
                </a:solidFill>
                <a:latin typeface="맑은 고딕"/>
              </a:rPr>
              <a:t>: https://github.com/sgdn12/Python</a:t>
            </a:r>
          </a:p>
        </p:txBody>
      </p:sp>
    </p:spTree>
    <p:extLst>
      <p:ext uri="{BB962C8B-B14F-4D97-AF65-F5344CB8AC3E}">
        <p14:creationId xmlns:p14="http://schemas.microsoft.com/office/powerpoint/2010/main" val="5493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63958"/>
            <a:ext cx="11186160" cy="6021523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120237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1주차: 파이썬 기초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5765"/>
            <a:ext cx="5519928" cy="3389429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52" y="2595831"/>
            <a:ext cx="5519928" cy="2489298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397958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007" y="1379003"/>
            <a:ext cx="2471130" cy="3729833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025" y="1679571"/>
            <a:ext cx="2471131" cy="3363484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576" y="1544197"/>
            <a:ext cx="2860020" cy="3498857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101720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2주차: 변수와 수식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349" y="3183866"/>
            <a:ext cx="2117277" cy="2732948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69" y="1170432"/>
            <a:ext cx="3956836" cy="1700784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072" y="231925"/>
            <a:ext cx="2117277" cy="2639291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48" y="3613726"/>
            <a:ext cx="3587004" cy="2639291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636" y="3183866"/>
            <a:ext cx="2117278" cy="2639291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126137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39" y="0"/>
            <a:ext cx="2883864" cy="3676073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406" y="84490"/>
            <a:ext cx="2645178" cy="3507092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633" y="2861887"/>
            <a:ext cx="2972456" cy="3676073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7901" y="3429000"/>
            <a:ext cx="2734836" cy="3237161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1907176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3주차: 조건문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904" y="4133704"/>
            <a:ext cx="2194934" cy="2624328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946" y="3474721"/>
            <a:ext cx="2122788" cy="3258133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20" y="1338966"/>
            <a:ext cx="5519928" cy="2462444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097" y="758952"/>
            <a:ext cx="4210037" cy="2624328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2695466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3" y="126077"/>
            <a:ext cx="2534485" cy="3609146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822" y="126076"/>
            <a:ext cx="2435687" cy="3421795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490" y="2675277"/>
            <a:ext cx="2590510" cy="3862683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1552" y="3223119"/>
            <a:ext cx="2435687" cy="3314841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165385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4주차: 반복문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53" y="1033272"/>
            <a:ext cx="2249910" cy="3940676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033272"/>
            <a:ext cx="5519928" cy="2195839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0625" y="1033271"/>
            <a:ext cx="2249910" cy="3940675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25" y="4054506"/>
            <a:ext cx="5519928" cy="2268690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209960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87" y="144548"/>
            <a:ext cx="2495106" cy="3855534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612" y="144548"/>
            <a:ext cx="2363115" cy="3323993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620" y="3140364"/>
            <a:ext cx="2835156" cy="3397596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4970" y="2963220"/>
            <a:ext cx="2512643" cy="3574740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126519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35" y="1335116"/>
            <a:ext cx="2678273" cy="3824110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938" y="1242751"/>
            <a:ext cx="3075462" cy="3739619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374" y="1335116"/>
            <a:ext cx="2882509" cy="3739619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348367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5주차: 함수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299" y="404644"/>
            <a:ext cx="2807913" cy="3367345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34" y="1137304"/>
            <a:ext cx="5519928" cy="2500166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212" y="2858869"/>
            <a:ext cx="2499674" cy="3283989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56515"/>
            <a:ext cx="5519928" cy="1686343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1432528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1" y="1253373"/>
            <a:ext cx="2901312" cy="4296389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051" y="1155654"/>
            <a:ext cx="2896531" cy="3970527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724" y="1155654"/>
            <a:ext cx="2858780" cy="3970528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4276367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12" y="411480"/>
            <a:ext cx="4952543" cy="6126480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634" y="411480"/>
            <a:ext cx="5268963" cy="6126480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122471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6주차: 파이썬 자료구조(리스트)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345" y="3857504"/>
            <a:ext cx="2207060" cy="2740399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18" y="1277666"/>
            <a:ext cx="5125730" cy="1700784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440" y="437341"/>
            <a:ext cx="2137965" cy="2878513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704" y="535787"/>
            <a:ext cx="2121113" cy="3091932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847" y="4140847"/>
            <a:ext cx="5458071" cy="1700784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212044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73" y="70659"/>
            <a:ext cx="2797868" cy="4003940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169" y="221673"/>
            <a:ext cx="2537888" cy="3510913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695" y="2896430"/>
            <a:ext cx="3571640" cy="3817020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177" y="3076934"/>
            <a:ext cx="2537887" cy="3664226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29002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25" y="411480"/>
            <a:ext cx="4626117" cy="6126480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52" y="1311788"/>
            <a:ext cx="5519928" cy="4325863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3410208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7주차: 파이썬 자료구조(튜플, 딕셔너리, 세트, 문자열)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167" y="3662754"/>
            <a:ext cx="2254445" cy="3068180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25" y="1237857"/>
            <a:ext cx="5519928" cy="1623878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566" y="800807"/>
            <a:ext cx="2115609" cy="2747325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85182"/>
            <a:ext cx="4725988" cy="1700784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321" y="919756"/>
            <a:ext cx="2571278" cy="2987295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3679197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76" y="134388"/>
            <a:ext cx="2900823" cy="3968055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9752"/>
            <a:ext cx="2567709" cy="3953459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715" y="2983417"/>
            <a:ext cx="2790680" cy="3820345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949" y="2750233"/>
            <a:ext cx="2567708" cy="3882876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2163877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8주차: 객체와 클래스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023" y="507492"/>
            <a:ext cx="2166703" cy="3004037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06" y="1370492"/>
            <a:ext cx="5276821" cy="2058507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966" y="311542"/>
            <a:ext cx="1980114" cy="3004038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805" y="4288536"/>
            <a:ext cx="5094449" cy="1700784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12" y="3669631"/>
            <a:ext cx="2301715" cy="3188369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2982655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2974" y="1939781"/>
            <a:ext cx="10728960" cy="86793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ko-KR" altLang="en-US" sz="5400" b="1" dirty="0">
                <a:solidFill>
                  <a:srgbClr val="1F3756"/>
                </a:solidFill>
                <a:latin typeface="맑은 고딕"/>
              </a:rPr>
              <a:t>프로젝트 </a:t>
            </a:r>
            <a:r>
              <a:rPr lang="en-US" altLang="ko-KR" sz="5400" b="1" dirty="0">
                <a:solidFill>
                  <a:srgbClr val="1F3756"/>
                </a:solidFill>
                <a:latin typeface="맑은 고딕"/>
              </a:rPr>
              <a:t>: </a:t>
            </a:r>
            <a:r>
              <a:rPr sz="5400" b="1" dirty="0" err="1">
                <a:solidFill>
                  <a:srgbClr val="1F3756"/>
                </a:solidFill>
                <a:latin typeface="맑은 고딕"/>
              </a:rPr>
              <a:t>주사위</a:t>
            </a:r>
            <a:r>
              <a:rPr sz="5400" b="1" dirty="0">
                <a:solidFill>
                  <a:srgbClr val="1F3756"/>
                </a:solidFill>
                <a:latin typeface="맑은 고딕"/>
              </a:rPr>
              <a:t> </a:t>
            </a:r>
            <a:r>
              <a:rPr sz="5400" b="1" dirty="0" err="1">
                <a:solidFill>
                  <a:srgbClr val="1F3756"/>
                </a:solidFill>
                <a:latin typeface="맑은 고딕"/>
              </a:rPr>
              <a:t>게임</a:t>
            </a:r>
            <a:endParaRPr sz="5400" b="1" dirty="0">
              <a:solidFill>
                <a:srgbClr val="1F3756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33966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주사위 게임 코드 설명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7135368" cy="264718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7135368" cy="2647188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152144"/>
            <a:ext cx="691591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 dirty="0">
                <a:solidFill>
                  <a:srgbClr val="2F5496"/>
                </a:solidFill>
                <a:latin typeface="맑은 고딕"/>
              </a:rPr>
              <a:t>1~4행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890772"/>
            <a:ext cx="7135368" cy="264718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865418"/>
            <a:ext cx="7135368" cy="2647188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76333"/>
            <a:ext cx="6915912" cy="84946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1행: random — </a:t>
            </a:r>
            <a:r>
              <a:rPr sz="1350" dirty="0" err="1">
                <a:latin typeface="맑은 고딕"/>
              </a:rPr>
              <a:t>주사위</a:t>
            </a:r>
            <a:r>
              <a:rPr sz="1350" dirty="0">
                <a:latin typeface="맑은 고딕"/>
              </a:rPr>
              <a:t> 눈(1~6)을 </a:t>
            </a:r>
            <a:r>
              <a:rPr sz="1350" dirty="0" err="1">
                <a:latin typeface="맑은 고딕"/>
              </a:rPr>
              <a:t>무작위로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뽑기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위해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사용합니다</a:t>
            </a:r>
            <a:r>
              <a:rPr sz="1350" dirty="0">
                <a:latin typeface="맑은 고딕"/>
              </a:rPr>
              <a:t>.</a:t>
            </a:r>
          </a:p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2행: time — </a:t>
            </a:r>
            <a:r>
              <a:rPr sz="1350" dirty="0" err="1">
                <a:latin typeface="맑은 고딕"/>
              </a:rPr>
              <a:t>AI가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주사위를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굴릴</a:t>
            </a:r>
            <a:r>
              <a:rPr sz="1350" dirty="0">
                <a:latin typeface="맑은 고딕"/>
              </a:rPr>
              <a:t> 때 </a:t>
            </a:r>
            <a:r>
              <a:rPr sz="1350" dirty="0" err="1">
                <a:latin typeface="맑은 고딕"/>
              </a:rPr>
              <a:t>멈칫하는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효과</a:t>
            </a:r>
            <a:r>
              <a:rPr sz="1350" dirty="0">
                <a:latin typeface="맑은 고딕"/>
              </a:rPr>
              <a:t>(</a:t>
            </a:r>
            <a:r>
              <a:rPr sz="1350" dirty="0" err="1">
                <a:latin typeface="맑은 고딕"/>
              </a:rPr>
              <a:t>time.sleep</a:t>
            </a:r>
            <a:r>
              <a:rPr sz="1350" dirty="0">
                <a:latin typeface="맑은 고딕"/>
              </a:rPr>
              <a:t>)를 </a:t>
            </a:r>
            <a:r>
              <a:rPr sz="1350" dirty="0" err="1">
                <a:latin typeface="맑은 고딕"/>
              </a:rPr>
              <a:t>주기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위해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사용합니다</a:t>
            </a:r>
            <a:r>
              <a:rPr sz="1350" dirty="0">
                <a:latin typeface="맑은 고딕"/>
              </a:rPr>
              <a:t>.</a:t>
            </a:r>
          </a:p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3행: </a:t>
            </a:r>
            <a:r>
              <a:rPr sz="1350" dirty="0" err="1">
                <a:latin typeface="맑은 고딕"/>
              </a:rPr>
              <a:t>tkinter</a:t>
            </a:r>
            <a:r>
              <a:rPr sz="1350" dirty="0">
                <a:latin typeface="맑은 고딕"/>
              </a:rPr>
              <a:t> as </a:t>
            </a:r>
            <a:r>
              <a:rPr sz="1350" dirty="0" err="1">
                <a:latin typeface="맑은 고딕"/>
              </a:rPr>
              <a:t>tk</a:t>
            </a:r>
            <a:r>
              <a:rPr sz="1350" dirty="0">
                <a:latin typeface="맑은 고딕"/>
              </a:rPr>
              <a:t> — </a:t>
            </a:r>
            <a:r>
              <a:rPr sz="1350" dirty="0" err="1">
                <a:latin typeface="맑은 고딕"/>
              </a:rPr>
              <a:t>파이썬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기본</a:t>
            </a:r>
            <a:r>
              <a:rPr sz="1350" dirty="0">
                <a:latin typeface="맑은 고딕"/>
              </a:rPr>
              <a:t> GUI </a:t>
            </a:r>
            <a:r>
              <a:rPr sz="1350" dirty="0" err="1">
                <a:latin typeface="맑은 고딕"/>
              </a:rPr>
              <a:t>라이브러리를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tk라는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축약어로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가져옵니다</a:t>
            </a:r>
            <a:r>
              <a:rPr sz="1350" dirty="0">
                <a:latin typeface="맑은 고딕"/>
              </a:rPr>
              <a:t>.</a:t>
            </a:r>
          </a:p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4행: </a:t>
            </a:r>
            <a:r>
              <a:rPr sz="1350" dirty="0" err="1">
                <a:latin typeface="맑은 고딕"/>
              </a:rPr>
              <a:t>messagebox</a:t>
            </a:r>
            <a:r>
              <a:rPr sz="1350" dirty="0">
                <a:latin typeface="맑은 고딕"/>
              </a:rPr>
              <a:t> — (</a:t>
            </a:r>
            <a:r>
              <a:rPr sz="1350" dirty="0" err="1">
                <a:latin typeface="맑은 고딕"/>
              </a:rPr>
              <a:t>현재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코드에선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쓰이지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않지만</a:t>
            </a:r>
            <a:r>
              <a:rPr sz="1350" dirty="0">
                <a:latin typeface="맑은 고딕"/>
              </a:rPr>
              <a:t>) </a:t>
            </a:r>
            <a:r>
              <a:rPr sz="1350" dirty="0" err="1">
                <a:latin typeface="맑은 고딕"/>
              </a:rPr>
              <a:t>알림창을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띄울</a:t>
            </a:r>
            <a:r>
              <a:rPr sz="1350" dirty="0">
                <a:latin typeface="맑은 고딕"/>
              </a:rPr>
              <a:t> 때 </a:t>
            </a:r>
            <a:r>
              <a:rPr sz="1350" dirty="0" err="1">
                <a:latin typeface="맑은 고딕"/>
              </a:rPr>
              <a:t>쓰는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도구입니다</a:t>
            </a:r>
            <a:r>
              <a:rPr sz="1350" dirty="0">
                <a:latin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4537918"/>
            <a:ext cx="6915912" cy="20253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6~7행: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DiceGameGUI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클래스를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만들고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창이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생성될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때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실행될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초기화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함수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(__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init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__)를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정의합니다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8~11행: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게임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창의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제목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크기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너비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450,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높이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500),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배경색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연한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푸른빛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공대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느낌의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회색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)을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지정합니다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14~20행: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화면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맨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위에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들어갈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대형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제목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글자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(🎲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주사위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대결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게임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🎲)의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폰트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배경색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글자색을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설정합니다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21행: pack(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pady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=20) —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제목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레이블을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화면에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배치하고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위아래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여백을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20만큼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줍니다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440" y="1755526"/>
            <a:ext cx="4069080" cy="1303264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440" y="4181619"/>
            <a:ext cx="4069080" cy="2056349"/>
          </a:xfrm>
          <a:prstGeom prst="rect">
            <a:avLst/>
          </a:prstGeom>
          <a:ln>
            <a:solidFill>
              <a:srgbClr val="C8D2D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21208" y="3962440"/>
            <a:ext cx="6915912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 dirty="0">
                <a:solidFill>
                  <a:schemeClr val="accent1">
                    <a:lumMod val="50000"/>
                  </a:schemeClr>
                </a:solidFill>
                <a:latin typeface="맑은 고딕"/>
              </a:rPr>
              <a:t>7~30행</a:t>
            </a:r>
          </a:p>
        </p:txBody>
      </p:sp>
    </p:spTree>
    <p:extLst>
      <p:ext uri="{BB962C8B-B14F-4D97-AF65-F5344CB8AC3E}">
        <p14:creationId xmlns:p14="http://schemas.microsoft.com/office/powerpoint/2010/main" val="2780806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주사위 게임 코드 설명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7135368" cy="264718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7135368" cy="2647188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464" y="1380320"/>
            <a:ext cx="691591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 dirty="0">
                <a:solidFill>
                  <a:srgbClr val="2F5496"/>
                </a:solidFill>
                <a:latin typeface="맑은 고딕"/>
              </a:rPr>
              <a:t>23~25행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890772"/>
            <a:ext cx="7135368" cy="264718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890772"/>
            <a:ext cx="7135368" cy="2647188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987253"/>
            <a:ext cx="6915912" cy="64171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24행: </a:t>
            </a:r>
            <a:r>
              <a:rPr sz="1350" dirty="0" err="1">
                <a:latin typeface="맑은 고딕"/>
              </a:rPr>
              <a:t>플레이어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영역과</a:t>
            </a:r>
            <a:r>
              <a:rPr sz="1350" dirty="0">
                <a:latin typeface="맑은 고딕"/>
              </a:rPr>
              <a:t> AI </a:t>
            </a:r>
            <a:r>
              <a:rPr sz="1350" dirty="0" err="1">
                <a:latin typeface="맑은 고딕"/>
              </a:rPr>
              <a:t>영역을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가로로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나란히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묶어줄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투명한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바구니</a:t>
            </a:r>
            <a:r>
              <a:rPr sz="1350" dirty="0">
                <a:latin typeface="맑은 고딕"/>
              </a:rPr>
              <a:t>(Frame)를 </a:t>
            </a:r>
            <a:r>
              <a:rPr sz="1350" dirty="0" err="1">
                <a:latin typeface="맑은 고딕"/>
              </a:rPr>
              <a:t>만듭니다</a:t>
            </a:r>
            <a:r>
              <a:rPr sz="1350" dirty="0">
                <a:latin typeface="맑은 고딕"/>
              </a:rPr>
              <a:t>.</a:t>
            </a:r>
          </a:p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25행: 이 </a:t>
            </a:r>
            <a:r>
              <a:rPr sz="1350" dirty="0" err="1">
                <a:latin typeface="맑은 고딕"/>
              </a:rPr>
              <a:t>바구니를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화면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가운데에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배치합니다</a:t>
            </a:r>
            <a:r>
              <a:rPr sz="1350" dirty="0">
                <a:latin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464" y="4693158"/>
            <a:ext cx="6915912" cy="20253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28~38행: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테두리가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있는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상자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형태의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LabelFrame을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만들어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플레이어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구역을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정의합니다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글자는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파란색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fg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=“#2b6cb0“)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계열입니다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39행: grid(row=0, column=0...) —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바구니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안에서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왼쪽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(0번 칸)에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배치합니다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41~44행: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처음에는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❓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모양을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보여줄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큰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주사위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그림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이모지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)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레이블입니다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 font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크기가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36으로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아주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큽니다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46~50행: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주사위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눈의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숫자를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텍스트로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보여줄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레이블입니다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 (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기본값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“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숫자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: 0")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440" y="1987253"/>
            <a:ext cx="4069080" cy="839810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581" y="3881628"/>
            <a:ext cx="3138797" cy="2656332"/>
          </a:xfrm>
          <a:prstGeom prst="rect">
            <a:avLst/>
          </a:prstGeom>
          <a:ln>
            <a:solidFill>
              <a:srgbClr val="C8D2D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4046220"/>
            <a:ext cx="6915912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 dirty="0">
                <a:solidFill>
                  <a:schemeClr val="accent1">
                    <a:lumMod val="50000"/>
                  </a:schemeClr>
                </a:solidFill>
                <a:latin typeface="맑은 고딕"/>
              </a:rPr>
              <a:t>27~50행</a:t>
            </a:r>
          </a:p>
        </p:txBody>
      </p:sp>
    </p:spTree>
    <p:extLst>
      <p:ext uri="{BB962C8B-B14F-4D97-AF65-F5344CB8AC3E}">
        <p14:creationId xmlns:p14="http://schemas.microsoft.com/office/powerpoint/2010/main" val="1637542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주사위 게임 코드 설명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7135368" cy="264718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7135368" cy="2647188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152144"/>
            <a:ext cx="691591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2F5496"/>
                </a:solidFill>
                <a:latin typeface="맑은 고딕"/>
              </a:rPr>
              <a:t>52~75행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890772"/>
            <a:ext cx="7135368" cy="264718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3890772"/>
            <a:ext cx="7135368" cy="2647188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10144"/>
            <a:ext cx="6915912" cy="849463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50" dirty="0" err="1">
                <a:latin typeface="맑은 고딕"/>
              </a:rPr>
              <a:t>플레이어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영역과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완벽히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대칭되는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구조입니다</a:t>
            </a:r>
            <a:r>
              <a:rPr sz="1350" dirty="0">
                <a:latin typeface="맑은 고딕"/>
              </a:rPr>
              <a:t>.</a:t>
            </a:r>
          </a:p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63행: grid(row=0, column=1...) — </a:t>
            </a:r>
            <a:r>
              <a:rPr sz="1350" dirty="0" err="1">
                <a:latin typeface="맑은 고딕"/>
              </a:rPr>
              <a:t>플레이어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바로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오른쪽인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오른쪽</a:t>
            </a:r>
            <a:r>
              <a:rPr sz="1350" dirty="0">
                <a:latin typeface="맑은 고딕"/>
              </a:rPr>
              <a:t>(1번 칸)에 </a:t>
            </a:r>
            <a:r>
              <a:rPr sz="1350" dirty="0" err="1">
                <a:latin typeface="맑은 고딕"/>
              </a:rPr>
              <a:t>배치합니다</a:t>
            </a:r>
            <a:r>
              <a:rPr sz="1350" dirty="0">
                <a:latin typeface="맑은 고딕"/>
              </a:rPr>
              <a:t>.</a:t>
            </a:r>
          </a:p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57행: AI </a:t>
            </a:r>
            <a:r>
              <a:rPr sz="1350" dirty="0" err="1">
                <a:latin typeface="맑은 고딕"/>
              </a:rPr>
              <a:t>구역의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테두리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글자는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빨간색</a:t>
            </a:r>
            <a:r>
              <a:rPr sz="1350" dirty="0">
                <a:latin typeface="맑은 고딕"/>
              </a:rPr>
              <a:t>(</a:t>
            </a:r>
            <a:r>
              <a:rPr sz="1350" dirty="0" err="1">
                <a:latin typeface="맑은 고딕"/>
              </a:rPr>
              <a:t>fg</a:t>
            </a:r>
            <a:r>
              <a:rPr sz="1350" dirty="0">
                <a:latin typeface="맑은 고딕"/>
              </a:rPr>
              <a:t>=“#c53030“) </a:t>
            </a:r>
            <a:r>
              <a:rPr sz="1350" dirty="0" err="1">
                <a:latin typeface="맑은 고딕"/>
              </a:rPr>
              <a:t>계열로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차별화를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주었습니다</a:t>
            </a:r>
            <a:r>
              <a:rPr sz="1350" dirty="0">
                <a:latin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4766310"/>
            <a:ext cx="6915912" cy="20253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78~85행: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중간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결과나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최종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승패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(“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승리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!“, "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패배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!")를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안내해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줄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문구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레이블입니다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88~97행: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초록색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bg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=“#48bb78")의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주사위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굴리기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버튼입니다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마우스를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올리면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손가락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모양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(cursor="hand2")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으로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변합니다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94행: command=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self.play_round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— 이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버튼을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누르면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아래에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정의된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play_round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함수가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실행됩니다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606" y="1078992"/>
            <a:ext cx="3850748" cy="2656332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259" y="3881628"/>
            <a:ext cx="2035441" cy="2656332"/>
          </a:xfrm>
          <a:prstGeom prst="rect">
            <a:avLst/>
          </a:prstGeom>
          <a:ln>
            <a:solidFill>
              <a:srgbClr val="C8D2D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21208" y="4046220"/>
            <a:ext cx="6915912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 dirty="0">
                <a:solidFill>
                  <a:schemeClr val="accent1">
                    <a:lumMod val="50000"/>
                  </a:schemeClr>
                </a:solidFill>
                <a:latin typeface="맑은 고딕"/>
              </a:rPr>
              <a:t>77~98행</a:t>
            </a:r>
          </a:p>
        </p:txBody>
      </p:sp>
    </p:spTree>
    <p:extLst>
      <p:ext uri="{BB962C8B-B14F-4D97-AF65-F5344CB8AC3E}">
        <p14:creationId xmlns:p14="http://schemas.microsoft.com/office/powerpoint/2010/main" val="1724835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주사위 게임 코드 설명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7135368" cy="213581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7135368" cy="2135817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152144"/>
            <a:ext cx="691591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2F5496"/>
                </a:solidFill>
                <a:latin typeface="맑은 고딕"/>
              </a:rPr>
              <a:t>100~106행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42291"/>
            <a:ext cx="7135368" cy="289566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3192" y="3642291"/>
            <a:ext cx="7135368" cy="2895669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991106"/>
            <a:ext cx="6915912" cy="64171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100~102행: </a:t>
            </a:r>
            <a:r>
              <a:rPr sz="1350" dirty="0" err="1">
                <a:latin typeface="맑은 고딕"/>
              </a:rPr>
              <a:t>호출되면</a:t>
            </a:r>
            <a:r>
              <a:rPr sz="1350" dirty="0">
                <a:latin typeface="맑은 고딕"/>
              </a:rPr>
              <a:t> 1부터 6까지의 </a:t>
            </a:r>
            <a:r>
              <a:rPr sz="1350" dirty="0" err="1">
                <a:latin typeface="맑은 고딕"/>
              </a:rPr>
              <a:t>숫자</a:t>
            </a:r>
            <a:r>
              <a:rPr sz="1350" dirty="0">
                <a:latin typeface="맑은 고딕"/>
              </a:rPr>
              <a:t> 중 </a:t>
            </a:r>
            <a:r>
              <a:rPr sz="1350" dirty="0" err="1">
                <a:latin typeface="맑은 고딕"/>
              </a:rPr>
              <a:t>하나를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무작위로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선택해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돌려줍니다</a:t>
            </a:r>
            <a:r>
              <a:rPr sz="1350" dirty="0">
                <a:latin typeface="맑은 고딕"/>
              </a:rPr>
              <a:t>.</a:t>
            </a:r>
          </a:p>
          <a:p>
            <a:pPr algn="l"/>
            <a:r>
              <a:rPr lang="en-US" altLang="ko-KR" sz="1350" b="0" dirty="0">
                <a:solidFill>
                  <a:srgbClr val="262626"/>
                </a:solidFill>
                <a:latin typeface="맑은 고딕"/>
              </a:rPr>
              <a:t>• </a:t>
            </a:r>
            <a:r>
              <a:rPr sz="1350" dirty="0">
                <a:latin typeface="맑은 고딕"/>
              </a:rPr>
              <a:t>104~106행: </a:t>
            </a:r>
            <a:r>
              <a:rPr sz="1350" dirty="0" err="1">
                <a:latin typeface="맑은 고딕"/>
              </a:rPr>
              <a:t>전달받은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숫자</a:t>
            </a:r>
            <a:r>
              <a:rPr sz="1350" dirty="0">
                <a:latin typeface="맑은 고딕"/>
              </a:rPr>
              <a:t>(1~6)에 </a:t>
            </a:r>
            <a:r>
              <a:rPr sz="1350" dirty="0" err="1">
                <a:latin typeface="맑은 고딕"/>
              </a:rPr>
              <a:t>매칭되는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특수문자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주사위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모양</a:t>
            </a:r>
            <a:r>
              <a:rPr sz="1350" dirty="0">
                <a:latin typeface="맑은 고딕"/>
              </a:rPr>
              <a:t>(⚀ ~ ⚅)을 </a:t>
            </a:r>
            <a:r>
              <a:rPr sz="1350" dirty="0" err="1">
                <a:latin typeface="맑은 고딕"/>
              </a:rPr>
              <a:t>찾아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변환해</a:t>
            </a:r>
            <a:r>
              <a:rPr sz="1350" dirty="0">
                <a:latin typeface="맑은 고딕"/>
              </a:rPr>
              <a:t> </a:t>
            </a:r>
            <a:r>
              <a:rPr sz="1350" dirty="0" err="1">
                <a:latin typeface="맑은 고딕"/>
              </a:rPr>
              <a:t>줍니다</a:t>
            </a:r>
            <a:r>
              <a:rPr sz="1350" dirty="0">
                <a:latin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4177480"/>
            <a:ext cx="6915912" cy="20253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110~111행: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사용자가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버튼을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마구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연타하는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것을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막기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위해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누르는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즉시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버튼을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잠그고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텍스트를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“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굴리는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중...“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으로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바꾼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뒤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화면을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새로고침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(update)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114~116행: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플레이어의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점수를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뽑고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화면의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주사위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모양과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텍스트를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즉시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변경합니다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119~121행: AI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구역이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바뀌기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전,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안내창에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“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AI가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주사위를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굴리는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중..."을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띄우고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0.8초간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프로그램을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잠깐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대기시킵니다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 (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시각적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효과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)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124~126행: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AI의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점수를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뽑고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AI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구역의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주사위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모양과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텍스트를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바꿉니다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129~137행: if-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elif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-else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구조로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플레이어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점수와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AI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점수를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비교하여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조건에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맞는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승리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/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패배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/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무승부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문구와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글자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색상을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지정합니다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  <a:p>
            <a:pPr algn="l"/>
            <a:r>
              <a:rPr sz="1350" b="0" dirty="0">
                <a:solidFill>
                  <a:srgbClr val="262626"/>
                </a:solidFill>
                <a:latin typeface="맑은 고딕"/>
              </a:rPr>
              <a:t>• 140행: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라운드가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끝났으므로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비활성화했던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버튼을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다시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누를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수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있게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정상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(normal)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상태로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62626"/>
                </a:solidFill>
                <a:latin typeface="맑은 고딕"/>
              </a:rPr>
              <a:t>되돌립니다</a:t>
            </a:r>
            <a:r>
              <a:rPr sz="1350" b="0" dirty="0">
                <a:solidFill>
                  <a:srgbClr val="262626"/>
                </a:solidFill>
                <a:latin typeface="맑은 고딕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440" y="1163548"/>
            <a:ext cx="4069080" cy="1361576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68" y="3512173"/>
            <a:ext cx="2727223" cy="2656332"/>
          </a:xfrm>
          <a:prstGeom prst="rect">
            <a:avLst/>
          </a:prstGeom>
          <a:ln>
            <a:solidFill>
              <a:srgbClr val="C8D2D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3726469"/>
            <a:ext cx="6915912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 dirty="0">
                <a:solidFill>
                  <a:schemeClr val="bg2">
                    <a:lumMod val="50000"/>
                  </a:schemeClr>
                </a:solidFill>
                <a:latin typeface="맑은 고딕"/>
              </a:rPr>
              <a:t> 108~140행</a:t>
            </a:r>
          </a:p>
        </p:txBody>
      </p:sp>
    </p:spTree>
    <p:extLst>
      <p:ext uri="{BB962C8B-B14F-4D97-AF65-F5344CB8AC3E}">
        <p14:creationId xmlns:p14="http://schemas.microsoft.com/office/powerpoint/2010/main" val="3131982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8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맑은 고딕"/>
              </a:rPr>
              <a:t>주사위 게임 코드 설명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828800" cy="5486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7135368" cy="5458968"/>
          </a:xfrm>
          <a:prstGeom prst="roundRect">
            <a:avLst/>
          </a:prstGeom>
          <a:solidFill>
            <a:srgbClr val="F5F8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1370849"/>
            <a:ext cx="6915912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 dirty="0">
                <a:solidFill>
                  <a:srgbClr val="2F5496"/>
                </a:solidFill>
                <a:latin typeface="맑은 고딕"/>
              </a:rPr>
              <a:t>144~147행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154567"/>
            <a:ext cx="6915912" cy="48371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262626"/>
                </a:solidFill>
                <a:latin typeface="맑은 고딕"/>
              </a:rPr>
              <a:t>• 144행: 이 파일이 다른 곳에 서브 파일로 불러와진 게 아니라, 직접 실행되었는지를 확인합니다.</a:t>
            </a:r>
          </a:p>
          <a:p>
            <a:pPr algn="l"/>
            <a:r>
              <a:rPr sz="1350" b="0">
                <a:solidFill>
                  <a:srgbClr val="262626"/>
                </a:solidFill>
                <a:latin typeface="맑은 고딕"/>
              </a:rPr>
              <a:t>• 145행: 기본이 되는 Tkinter 윈도우 창(root)을 실제로 생성합니다.</a:t>
            </a:r>
          </a:p>
          <a:p>
            <a:pPr algn="l"/>
            <a:r>
              <a:rPr sz="1350" b="0">
                <a:solidFill>
                  <a:srgbClr val="262626"/>
                </a:solidFill>
                <a:latin typeface="맑은 고딕"/>
              </a:rPr>
              <a:t>• 146행: 우리가 위에서 설계한 DiceGameGUI 설계도에 root 창을 주입하여 게임 인스턴스를 만듭니다.</a:t>
            </a:r>
          </a:p>
          <a:p>
            <a:pPr algn="l"/>
            <a:r>
              <a:rPr sz="1350" b="0">
                <a:solidFill>
                  <a:srgbClr val="262626"/>
                </a:solidFill>
                <a:latin typeface="맑은 고딕"/>
              </a:rPr>
              <a:t>• 147행: 창이 닫히기 전까지 프로그램이 종료되지 않고 마우스 클릭 등의 이벤트를 계속 감지하며 대기하도록 루프를 돌립니다.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440" y="1948662"/>
            <a:ext cx="1979676" cy="935280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844" y="1295648"/>
            <a:ext cx="1979676" cy="2241307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40" y="4085734"/>
            <a:ext cx="1979676" cy="2229831"/>
          </a:xfrm>
          <a:prstGeom prst="rect">
            <a:avLst/>
          </a:prstGeom>
          <a:ln>
            <a:solidFill>
              <a:srgbClr val="C8D2DC"/>
            </a:solidFill>
          </a:ln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0844" y="4032244"/>
            <a:ext cx="1979676" cy="2336811"/>
          </a:xfrm>
          <a:prstGeom prst="rect">
            <a:avLst/>
          </a:prstGeom>
          <a:ln>
            <a:solidFill>
              <a:srgbClr val="C8D2DC"/>
            </a:solidFill>
          </a:ln>
        </p:spPr>
      </p:pic>
    </p:spTree>
    <p:extLst>
      <p:ext uri="{BB962C8B-B14F-4D97-AF65-F5344CB8AC3E}">
        <p14:creationId xmlns:p14="http://schemas.microsoft.com/office/powerpoint/2010/main" val="4214296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925716"/>
            <a:ext cx="10728960" cy="4678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800" b="1" dirty="0" err="1">
                <a:solidFill>
                  <a:srgbClr val="1F3756"/>
                </a:solidFill>
                <a:latin typeface="맑은 고딕"/>
              </a:rPr>
              <a:t>느낀점</a:t>
            </a:r>
            <a:endParaRPr sz="2800" b="1" dirty="0">
              <a:solidFill>
                <a:srgbClr val="1F3756"/>
              </a:solidFill>
              <a:latin typeface="맑은 고딕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DB6D58-392F-5165-EB2D-A346B677F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163" y="1533360"/>
            <a:ext cx="936567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이번에 프로그래밍을 처음 배우고 </a:t>
            </a:r>
            <a:r>
              <a:rPr lang="en-US" altLang="ko-KR" dirty="0"/>
              <a:t>, </a:t>
            </a:r>
            <a:r>
              <a:rPr lang="ko-KR" altLang="en-US" dirty="0"/>
              <a:t>단순히 컴퓨터 명령어를 외우는 걸 넘어 코드가 돌아가는 원리와 논리적인 문제 해결 방식을 배울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가장 크게 배운 점은 컴퓨터의 정확성과 디버깅의 중요성이었습니다</a:t>
            </a:r>
            <a:r>
              <a:rPr lang="en-US" altLang="ko-KR" dirty="0"/>
              <a:t>. </a:t>
            </a:r>
            <a:r>
              <a:rPr lang="ko-KR" altLang="en-US" dirty="0"/>
              <a:t>컴퓨터는 아주 사소한 오타나 들여쓰기 오류 하나만 있어도 가차 없이 에러를 띄웠습니다</a:t>
            </a:r>
            <a:r>
              <a:rPr lang="en-US" altLang="ko-KR" dirty="0"/>
              <a:t>. </a:t>
            </a:r>
            <a:r>
              <a:rPr lang="ko-KR" altLang="en-US" dirty="0"/>
              <a:t>그러면서 오류를 고치는데 정말 힘들었습니다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두 </a:t>
            </a:r>
            <a:r>
              <a:rPr lang="ko-KR" altLang="en-US" dirty="0" err="1"/>
              <a:t>번째는</a:t>
            </a:r>
            <a:r>
              <a:rPr lang="ko-KR" altLang="en-US" dirty="0"/>
              <a:t> 문제를 쪼개서 생각하는 것이었습니다</a:t>
            </a:r>
            <a:r>
              <a:rPr lang="en-US" altLang="ko-KR" dirty="0"/>
              <a:t>. </a:t>
            </a:r>
            <a:r>
              <a:rPr lang="ko-KR" altLang="en-US" dirty="0"/>
              <a:t>프로그램을 만들려면 내가 구현하고 싶은 기능을 최소 단위의 단계로 나누어야 했습니다</a:t>
            </a:r>
            <a:r>
              <a:rPr lang="en-US" altLang="ko-KR" dirty="0"/>
              <a:t>. </a:t>
            </a:r>
            <a:r>
              <a:rPr lang="ko-KR" altLang="en-US" dirty="0"/>
              <a:t>조건문과 반복문을 어떻게 </a:t>
            </a:r>
            <a:r>
              <a:rPr lang="ko-KR" altLang="en-US" dirty="0" err="1"/>
              <a:t>배치하느냐에</a:t>
            </a:r>
            <a:r>
              <a:rPr lang="ko-KR" altLang="en-US" dirty="0"/>
              <a:t> 따라 데이터가 움직이는 걸 보면서</a:t>
            </a:r>
            <a:r>
              <a:rPr lang="en-US" altLang="ko-KR" dirty="0"/>
              <a:t>, </a:t>
            </a:r>
            <a:r>
              <a:rPr lang="ko-KR" altLang="en-US" dirty="0"/>
              <a:t>복잡한 문제도 순서대로 차근차근 접근하면 해결할 수 있다는 인과관계를 체감했습니다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결론적으로 이번 준비 과정은 단순히 코딩 기술을 배운 것을 넘어</a:t>
            </a:r>
            <a:r>
              <a:rPr lang="en-US" altLang="ko-KR" dirty="0"/>
              <a:t>, </a:t>
            </a:r>
            <a:r>
              <a:rPr lang="ko-KR" altLang="en-US" dirty="0"/>
              <a:t>문제를 논리적이고 단계적으로 해결하는 컴퓨팅 사고력을 기를 수 있었던 뜻깊은 경험이었습니다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5392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72896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800" b="1" dirty="0" err="1">
                <a:solidFill>
                  <a:srgbClr val="1F3756"/>
                </a:solidFill>
                <a:latin typeface="맑은 고딕"/>
              </a:rPr>
              <a:t>나의</a:t>
            </a:r>
            <a:r>
              <a:rPr sz="2800" b="1" dirty="0">
                <a:solidFill>
                  <a:srgbClr val="1F3756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1F3756"/>
                </a:solidFill>
                <a:latin typeface="맑은 고딕"/>
              </a:rPr>
              <a:t>예상</a:t>
            </a:r>
            <a:r>
              <a:rPr sz="2800" b="1" dirty="0">
                <a:solidFill>
                  <a:srgbClr val="1F3756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1F3756"/>
                </a:solidFill>
                <a:latin typeface="맑은 고딕"/>
              </a:rPr>
              <a:t>점수</a:t>
            </a:r>
            <a:endParaRPr sz="2800" b="1" dirty="0">
              <a:solidFill>
                <a:srgbClr val="1F3756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50080" y="2572327"/>
            <a:ext cx="6309360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200" b="1" dirty="0">
                <a:solidFill>
                  <a:srgbClr val="2F5496"/>
                </a:solidFill>
                <a:latin typeface="맑은 고딕"/>
              </a:rPr>
              <a:t>GitHub: 15/15</a:t>
            </a:r>
          </a:p>
          <a:p>
            <a:pPr algn="l"/>
            <a:r>
              <a:rPr sz="2200" b="1" dirty="0" err="1">
                <a:solidFill>
                  <a:srgbClr val="2F5496"/>
                </a:solidFill>
                <a:latin typeface="맑은 고딕"/>
              </a:rPr>
              <a:t>프로젝트</a:t>
            </a:r>
            <a:r>
              <a:rPr sz="2200" b="1" dirty="0">
                <a:solidFill>
                  <a:srgbClr val="2F5496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F5496"/>
                </a:solidFill>
                <a:latin typeface="맑은 고딕"/>
              </a:rPr>
              <a:t>발표</a:t>
            </a:r>
            <a:r>
              <a:rPr sz="2200" b="1" dirty="0">
                <a:solidFill>
                  <a:srgbClr val="2F5496"/>
                </a:solidFill>
                <a:latin typeface="맑은 고딕"/>
              </a:rPr>
              <a:t>: 15/15</a:t>
            </a:r>
          </a:p>
          <a:p>
            <a:pPr algn="l"/>
            <a:r>
              <a:rPr sz="2200" b="1" dirty="0" err="1">
                <a:solidFill>
                  <a:srgbClr val="2F5496"/>
                </a:solidFill>
                <a:latin typeface="맑은 고딕"/>
              </a:rPr>
              <a:t>총합</a:t>
            </a:r>
            <a:r>
              <a:rPr sz="2200" b="1" dirty="0">
                <a:solidFill>
                  <a:srgbClr val="2F5496"/>
                </a:solidFill>
                <a:latin typeface="맑은 고딕"/>
              </a:rPr>
              <a:t>: 30/30</a:t>
            </a:r>
          </a:p>
        </p:txBody>
      </p:sp>
    </p:spTree>
    <p:extLst>
      <p:ext uri="{BB962C8B-B14F-4D97-AF65-F5344CB8AC3E}">
        <p14:creationId xmlns:p14="http://schemas.microsoft.com/office/powerpoint/2010/main" val="3724391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72896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800" b="1" dirty="0">
                <a:solidFill>
                  <a:srgbClr val="1F3756"/>
                </a:solidFill>
                <a:latin typeface="맑은 고딕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1429" y="3006436"/>
            <a:ext cx="6309360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0" dirty="0" err="1">
                <a:solidFill>
                  <a:srgbClr val="262626"/>
                </a:solidFill>
                <a:latin typeface="맑은 고딕"/>
              </a:rPr>
              <a:t>발표를</a:t>
            </a:r>
            <a:r>
              <a:rPr sz="180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262626"/>
                </a:solidFill>
                <a:latin typeface="맑은 고딕"/>
              </a:rPr>
              <a:t>들어주셔서</a:t>
            </a:r>
            <a:r>
              <a:rPr sz="180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262626"/>
                </a:solidFill>
                <a:latin typeface="맑은 고딕"/>
              </a:rPr>
              <a:t>감사합니다</a:t>
            </a:r>
            <a:r>
              <a:rPr sz="1800" b="0" dirty="0">
                <a:solidFill>
                  <a:srgbClr val="262626"/>
                </a:solidFill>
                <a:latin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3796427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물방울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물방울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물방울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TM04033925[[fn=물방울]]</Template>
  <TotalTime>165</TotalTime>
  <Words>904</Words>
  <Application>Microsoft Office PowerPoint</Application>
  <PresentationFormat>와이드스크린</PresentationFormat>
  <Paragraphs>73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맑은 고딕</vt:lpstr>
      <vt:lpstr>Arial</vt:lpstr>
      <vt:lpstr>Tw Cen MT</vt:lpstr>
      <vt:lpstr>물방울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Fyjs Ko</dc:creator>
  <cp:lastModifiedBy>Fyjs Ko</cp:lastModifiedBy>
  <cp:revision>2</cp:revision>
  <dcterms:created xsi:type="dcterms:W3CDTF">2026-06-10T05:49:52Z</dcterms:created>
  <dcterms:modified xsi:type="dcterms:W3CDTF">2026-06-11T10:53:26Z</dcterms:modified>
</cp:coreProperties>
</file>