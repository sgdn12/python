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92" r:id="rId5"/>
    <p:sldId id="259" r:id="rId6"/>
    <p:sldId id="268" r:id="rId7"/>
    <p:sldId id="260" r:id="rId8"/>
    <p:sldId id="270" r:id="rId9"/>
    <p:sldId id="261" r:id="rId10"/>
    <p:sldId id="273" r:id="rId11"/>
    <p:sldId id="275" r:id="rId12"/>
    <p:sldId id="262" r:id="rId13"/>
    <p:sldId id="277" r:id="rId14"/>
    <p:sldId id="279" r:id="rId15"/>
    <p:sldId id="263" r:id="rId16"/>
    <p:sldId id="280" r:id="rId17"/>
    <p:sldId id="281" r:id="rId18"/>
    <p:sldId id="264" r:id="rId19"/>
    <p:sldId id="282" r:id="rId20"/>
    <p:sldId id="265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3896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427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801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36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44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13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155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62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18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267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078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2908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057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622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805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053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10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CFE555D-5261-47B3-B4A9-859681CFB1E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638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gdn12/Pytho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2C1F4-78CB-565B-B98C-E250C5A73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586509"/>
            <a:ext cx="8689976" cy="2509213"/>
          </a:xfrm>
        </p:spPr>
        <p:txBody>
          <a:bodyPr/>
          <a:lstStyle/>
          <a:p>
            <a:r>
              <a:rPr lang="ko-KR" altLang="en-US" dirty="0"/>
              <a:t>깃 허브와 주사위게임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F7BE06-F844-3674-583A-CCA41D298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2385291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프로그래밍 입문</a:t>
            </a:r>
            <a:endParaRPr lang="en-US" altLang="ko-KR" dirty="0"/>
          </a:p>
          <a:p>
            <a:r>
              <a:rPr lang="ko-KR" altLang="en-US" dirty="0"/>
              <a:t>학번 </a:t>
            </a:r>
            <a:r>
              <a:rPr lang="en-US" altLang="ko-KR" dirty="0"/>
              <a:t>: 2026964001</a:t>
            </a:r>
          </a:p>
          <a:p>
            <a:r>
              <a:rPr lang="ko-KR" altLang="en-US" dirty="0"/>
              <a:t>이름 </a:t>
            </a:r>
            <a:r>
              <a:rPr lang="en-US" altLang="ko-KR" dirty="0"/>
              <a:t>: </a:t>
            </a:r>
            <a:r>
              <a:rPr lang="ko-KR" altLang="en-US" dirty="0" err="1"/>
              <a:t>김동교</a:t>
            </a:r>
            <a:endParaRPr lang="en-US" altLang="ko-KR" dirty="0"/>
          </a:p>
          <a:p>
            <a:br>
              <a:rPr lang="en-US" altLang="ko-KR" dirty="0"/>
            </a:br>
            <a:r>
              <a:rPr lang="ko-KR" altLang="en-US" dirty="0"/>
              <a:t>깃 허브 주소</a:t>
            </a:r>
            <a:r>
              <a:rPr lang="en-US" altLang="ko-KR" dirty="0"/>
              <a:t>: </a:t>
            </a:r>
            <a:r>
              <a:rPr lang="en-US" altLang="ko-KR" sz="1800" b="0" i="0" u="sng" strike="noStrike" dirty="0">
                <a:solidFill>
                  <a:srgbClr val="0563C1"/>
                </a:solidFill>
                <a:effectLst/>
                <a:latin typeface="Arial" panose="020B0604020202020204" pitchFamily="34" charset="0"/>
                <a:hlinkClick r:id="rId2"/>
              </a:rPr>
              <a:t>https://github.com/sgdn12/Python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93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DE1886-78C6-C3B6-3754-64495D91F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516"/>
            <a:ext cx="12192000" cy="656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74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8F1DE-AB6F-B03D-D114-98C2D632D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32" y="174169"/>
            <a:ext cx="5530516" cy="854075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1</a:t>
            </a:r>
            <a:r>
              <a:rPr lang="ko-KR" altLang="en-US" sz="4000" dirty="0"/>
              <a:t>주차 </a:t>
            </a:r>
            <a:r>
              <a:rPr lang="en-US" altLang="ko-KR" sz="4000" dirty="0"/>
              <a:t>: </a:t>
            </a:r>
            <a:r>
              <a:rPr lang="ko-KR" altLang="en-US" sz="4000" dirty="0"/>
              <a:t>파이썬 기초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8AAE3C4-C758-AD42-61A7-0C7E6DF33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3" y="1506164"/>
            <a:ext cx="5064282" cy="373085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B9239AF-EFA2-C023-364D-2B518EE37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490" y="1506164"/>
            <a:ext cx="5530517" cy="366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86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03E6F85-C0D8-E6DA-81E2-B0980DE15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2" y="583364"/>
            <a:ext cx="4398494" cy="299110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BC48E5-71DB-2B82-BBCB-CDC3CF369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357" y="583364"/>
            <a:ext cx="5403851" cy="34243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6E2A040-48FA-6448-BFB4-9C7164F6A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177" y="3553691"/>
            <a:ext cx="4786725" cy="330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209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C88AA-3658-47A8-B51A-239BC0395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700337" cy="802105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2</a:t>
            </a:r>
            <a:r>
              <a:rPr lang="ko-KR" altLang="en-US" sz="4000" dirty="0"/>
              <a:t>주차</a:t>
            </a:r>
            <a:r>
              <a:rPr lang="en-US" altLang="ko-KR" sz="4000" dirty="0"/>
              <a:t>: </a:t>
            </a:r>
            <a:r>
              <a:rPr lang="ko-KR" altLang="en-US" sz="4000" dirty="0"/>
              <a:t>변수와 수식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B48033-0827-07FD-0A7C-19F333D54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94332"/>
            <a:ext cx="5209330" cy="324355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DA63265-F6C9-F725-B7AC-A5CC7F2FE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341" y="0"/>
            <a:ext cx="4818413" cy="29036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B6C1837-693A-E6D3-FA12-E7F9F16A5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298" y="2791325"/>
            <a:ext cx="4410456" cy="347377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51845F4-457A-DBE2-DB32-22DD5E649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669" y="4203032"/>
            <a:ext cx="4829849" cy="248494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007E87C-2875-BE3A-5060-F3127C48E0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6618" y="3129664"/>
            <a:ext cx="5209329" cy="355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76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FFB396-2927-8855-6ACA-A95C9FE27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44" y="0"/>
            <a:ext cx="4976898" cy="35403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790183F-E85C-752A-9269-8339B081A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660" y="0"/>
            <a:ext cx="5286572" cy="37010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5AE4905-9ED0-B19F-77E6-F7CCD688D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44" y="3701021"/>
            <a:ext cx="5191850" cy="29404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F000C14-F339-87DF-4BB6-C277C8901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922507"/>
            <a:ext cx="5444869" cy="271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76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BB194-4138-E3F3-A5E8-3B43D14C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420195" cy="1596177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3</a:t>
            </a:r>
            <a:r>
              <a:rPr lang="ko-KR" altLang="en-US" sz="4000" dirty="0"/>
              <a:t>주차</a:t>
            </a:r>
            <a:r>
              <a:rPr lang="en-US" altLang="ko-KR" sz="4000" dirty="0"/>
              <a:t>: </a:t>
            </a:r>
            <a:r>
              <a:rPr lang="ko-KR" altLang="en-US" sz="4000" dirty="0"/>
              <a:t>조건문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BE4B30C-210B-A727-CE52-EFCD92E8C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8" y="1238402"/>
            <a:ext cx="4987669" cy="355508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1140573-D69B-BC85-F798-AB548BFEA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885" y="121572"/>
            <a:ext cx="3983543" cy="33974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0223F4C-C05B-3EAA-ABD8-F4B1C6D57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968" y="197772"/>
            <a:ext cx="3382924" cy="32312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101F300-1148-0125-AF9A-3B9E3DD5D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6065" y="3666837"/>
            <a:ext cx="4454798" cy="30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66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4EA84B1-9C50-6212-36C4-141FE395C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363"/>
            <a:ext cx="4706007" cy="34861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3323CAB-3A93-AB9B-9979-9F7AB50E4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91" y="3609474"/>
            <a:ext cx="4599322" cy="32485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8A55A55-5A10-5BAB-1C51-A9FACDA8C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153" y="0"/>
            <a:ext cx="4815961" cy="348611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503FC25-76E4-DCD2-5758-12D8A70671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265" y="3609474"/>
            <a:ext cx="4829849" cy="328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85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476DF-1482-E5CD-897A-F7306AFD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198501" cy="1596177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4</a:t>
            </a:r>
            <a:r>
              <a:rPr lang="ko-KR" altLang="en-US" sz="4000" dirty="0"/>
              <a:t>주차</a:t>
            </a:r>
            <a:r>
              <a:rPr lang="en-US" altLang="ko-KR" sz="4000" dirty="0"/>
              <a:t>: </a:t>
            </a:r>
            <a:r>
              <a:rPr lang="ko-KR" altLang="en-US" sz="4000" dirty="0" err="1"/>
              <a:t>반복문</a:t>
            </a:r>
            <a:endParaRPr lang="ko-KR" altLang="en-US" sz="4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2482A4-A4B1-BDC3-C299-5C0C9987D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90" y="1040247"/>
            <a:ext cx="4959686" cy="317153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AE100A-8442-DEA0-350B-F788CA108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725" y="0"/>
            <a:ext cx="4274075" cy="3429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16EE08E-55BB-BBAA-D492-8C5DDA0C0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725" y="3625516"/>
            <a:ext cx="4399808" cy="31001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E5D09B5-1E26-AC89-F052-2C2795B17B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90" y="4327641"/>
            <a:ext cx="5834583" cy="239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60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33AF7E7-1BBC-8FA6-3083-257E89A67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4684296" cy="36380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091A745-F61A-6338-CD4D-7C2186544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32" y="3638088"/>
            <a:ext cx="4820409" cy="321991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2247D26-AE30-C6F0-0BF4-AF73CE344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969" y="0"/>
            <a:ext cx="4875535" cy="3429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9FAE282-D3FE-E3EC-2C59-53A6C4C3D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4969" y="3510144"/>
            <a:ext cx="4706007" cy="321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19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67F6CDC-E5D9-27A8-E003-E3AA67499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66" y="0"/>
            <a:ext cx="4409954" cy="35453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8649516-0597-E926-0802-43A0D3AF8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11" y="3855916"/>
            <a:ext cx="5029902" cy="30020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64AE9F9-B41B-8F47-9CC7-6148445E2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408" y="227432"/>
            <a:ext cx="4896533" cy="301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67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2EE65D-845C-C68B-6607-071E7762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54"/>
            <a:ext cx="3750589" cy="1596177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5</a:t>
            </a:r>
            <a:r>
              <a:rPr lang="ko-KR" altLang="en-US" sz="4000" dirty="0"/>
              <a:t>주차</a:t>
            </a:r>
            <a:r>
              <a:rPr lang="en-US" altLang="ko-KR" sz="4000" dirty="0"/>
              <a:t>: </a:t>
            </a:r>
            <a:r>
              <a:rPr lang="ko-KR" altLang="en-US" sz="4000" dirty="0"/>
              <a:t>함수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D328AC-0D60-4BFE-DF0D-11C995104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452" y="365125"/>
            <a:ext cx="5261808" cy="30638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9332627-F6F5-BD98-E073-040D2954E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2267"/>
            <a:ext cx="5488252" cy="347487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CF3282D-F91E-FD9E-195E-D4072B7E1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508" y="3346866"/>
            <a:ext cx="5065292" cy="334686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25684C3-268E-820C-EE12-807F92D6CF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43" y="4942406"/>
            <a:ext cx="5488253" cy="167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528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ABF3DD9-FFEB-7848-2488-B371249F9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13684" cy="356134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DCB80FB-727D-50F2-4464-ED87B1CFA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842" y="3753853"/>
            <a:ext cx="5213683" cy="31041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6295EF3-7918-6E4B-F060-4B9E06012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843" y="0"/>
            <a:ext cx="521368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367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CF1681-A346-AA35-6222-CF0DBF94E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65" y="366285"/>
            <a:ext cx="5268060" cy="612543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8963F18-3929-070C-9E16-330872380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677" y="128127"/>
            <a:ext cx="5144218" cy="636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11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D7F03-3297-37B1-6914-A34AD4A49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269018" cy="132556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6</a:t>
            </a:r>
            <a:r>
              <a:rPr lang="ko-KR" altLang="en-US" sz="4000" dirty="0"/>
              <a:t>주차</a:t>
            </a:r>
            <a:r>
              <a:rPr lang="en-US" altLang="ko-KR" sz="4000" dirty="0"/>
              <a:t>: </a:t>
            </a:r>
            <a:r>
              <a:rPr lang="ko-KR" altLang="en-US" sz="4000" dirty="0"/>
              <a:t>파이썬 자료구조</a:t>
            </a:r>
            <a:r>
              <a:rPr lang="en-US" altLang="ko-KR" sz="4000" dirty="0"/>
              <a:t>(</a:t>
            </a:r>
            <a:r>
              <a:rPr lang="ko-KR" altLang="en-US" sz="4000" dirty="0"/>
              <a:t>리스트</a:t>
            </a:r>
            <a:r>
              <a:rPr lang="en-US" altLang="ko-KR" sz="4000" dirty="0"/>
              <a:t>)</a:t>
            </a:r>
            <a:endParaRPr lang="ko-KR" altLang="en-US" sz="4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A64C52-789C-152E-DB94-1AB96A9EC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5597"/>
            <a:ext cx="5979695" cy="277216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B33FBB5-F99C-4F7F-16B7-D308B44D9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508" y="92364"/>
            <a:ext cx="3747533" cy="3429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F7752F8-03AE-9EFC-342C-63676C770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090" y="3429000"/>
            <a:ext cx="3294951" cy="3429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2191904-F486-4BFF-3B1D-4A99AABEF9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31" y="3566136"/>
            <a:ext cx="2962052" cy="315472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1389C01-EEEF-B2A6-8CCA-1D925AE56D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190" y="3859668"/>
            <a:ext cx="5490234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44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CAD84BC-CFD1-D6CE-383A-ABCA798CF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331367" cy="3429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EFAC7A7-52FE-609D-B570-FD1A6C31B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170947"/>
            <a:ext cx="3914274" cy="268705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6394F7C-0C67-961A-D82D-592C3BEF3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948" y="94785"/>
            <a:ext cx="4644516" cy="33342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1A70B9A-1178-1ED5-B105-6363C9159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948" y="3545305"/>
            <a:ext cx="4387842" cy="321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24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9981746-7E52-98FC-44D9-322506F86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02" y="755961"/>
            <a:ext cx="5020376" cy="393437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EAF3A81-2C42-7FD3-6E13-16DF9FACB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1469"/>
            <a:ext cx="4934639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08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B876B-33E8-BFE6-2FBE-1093B2533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753726" cy="132556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7</a:t>
            </a:r>
            <a:r>
              <a:rPr lang="ko-KR" altLang="en-US" sz="4000" dirty="0"/>
              <a:t>주차</a:t>
            </a:r>
            <a:r>
              <a:rPr lang="en-US" altLang="ko-KR" sz="4000" dirty="0"/>
              <a:t>: </a:t>
            </a:r>
            <a:r>
              <a:rPr lang="ko-KR" altLang="en-US" sz="4000" dirty="0"/>
              <a:t>파이썬 자료구조</a:t>
            </a:r>
            <a:r>
              <a:rPr lang="en-US" altLang="ko-KR" sz="4000" dirty="0"/>
              <a:t>(</a:t>
            </a:r>
            <a:r>
              <a:rPr lang="ko-KR" altLang="en-US" sz="4000" dirty="0" err="1"/>
              <a:t>튜플</a:t>
            </a:r>
            <a:r>
              <a:rPr lang="en-US" altLang="ko-KR" sz="4000" dirty="0"/>
              <a:t>, </a:t>
            </a:r>
            <a:r>
              <a:rPr lang="ko-KR" altLang="en-US" sz="4000" dirty="0" err="1"/>
              <a:t>딕셔너리</a:t>
            </a:r>
            <a:r>
              <a:rPr lang="en-US" altLang="ko-KR" sz="4000" dirty="0"/>
              <a:t>, </a:t>
            </a:r>
            <a:r>
              <a:rPr lang="ko-KR" altLang="en-US" sz="4000" dirty="0"/>
              <a:t>세트</a:t>
            </a:r>
            <a:r>
              <a:rPr lang="en-US" altLang="ko-KR" sz="4000" dirty="0"/>
              <a:t>, </a:t>
            </a:r>
            <a:r>
              <a:rPr lang="ko-KR" altLang="en-US" sz="4000" dirty="0"/>
              <a:t>문자열</a:t>
            </a:r>
            <a:r>
              <a:rPr lang="en-US" altLang="ko-KR" sz="4000" dirty="0"/>
              <a:t>)</a:t>
            </a:r>
            <a:endParaRPr lang="ko-KR" altLang="en-US" sz="4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D82F15-650F-0B06-EC71-D3DCFA409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80" y="1200631"/>
            <a:ext cx="5518484" cy="245779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5A1DAA9-CD52-572A-A7BE-D9506CED6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874" y="4093639"/>
            <a:ext cx="3581278" cy="268029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34B4A9-DA14-99B2-E9C4-8498B8068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8144" y="0"/>
            <a:ext cx="3823855" cy="31973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8B1D110-2897-4019-B093-3F9511F2BF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8162" y="3197379"/>
            <a:ext cx="3263838" cy="303244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3AFD7F9-FF07-9BDC-0C0D-B384BEB4A7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380" y="3866340"/>
            <a:ext cx="5362126" cy="290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97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65EF79F-4D82-C218-8D03-73A89AFAF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075" y="64168"/>
            <a:ext cx="3866149" cy="37217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8F649D9-3E85-2588-75CF-13A504856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8" y="3930316"/>
            <a:ext cx="3497182" cy="29276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71AFA63-FEF8-BA6A-DE7C-68F1F957B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885" y="128336"/>
            <a:ext cx="3497181" cy="359343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9947962-8FCD-B5EB-FF93-238AF4EED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21769"/>
            <a:ext cx="3497181" cy="313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77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EFA555-9E16-C231-3376-42537A6B9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061527" cy="132556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8</a:t>
            </a:r>
            <a:r>
              <a:rPr lang="ko-KR" altLang="en-US" sz="4000" dirty="0"/>
              <a:t>주차</a:t>
            </a:r>
            <a:r>
              <a:rPr lang="en-US" altLang="ko-KR" sz="4000" dirty="0"/>
              <a:t>: </a:t>
            </a:r>
            <a:r>
              <a:rPr lang="ko-KR" altLang="en-US" sz="4000" dirty="0"/>
              <a:t>객체와 클래스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7E4A3F-08B0-A07F-491E-09E961770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2181"/>
            <a:ext cx="5502769" cy="28860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C9158D-B30A-0C80-37C6-7CB61BC7F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073" y="113838"/>
            <a:ext cx="3574449" cy="31106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8F4160C-2C40-5393-9801-B90EA800B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073" y="3633537"/>
            <a:ext cx="3943927" cy="322446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4DC1884-CE06-B16D-5F5E-2E50A98320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0617" y="4008983"/>
            <a:ext cx="3417455" cy="273517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E5962AE-F455-AC26-F93F-FF217DE3DF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61" y="3889308"/>
            <a:ext cx="4738255" cy="295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655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A247D-2B4E-99EE-6552-BE12B4E052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주사위 게임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3966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59AC1-F4D3-E334-1BA9-EFE07B5F5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42" y="494694"/>
            <a:ext cx="3932237" cy="830997"/>
          </a:xfrm>
        </p:spPr>
        <p:txBody>
          <a:bodyPr/>
          <a:lstStyle/>
          <a:p>
            <a:r>
              <a:rPr lang="en-US" altLang="ko-KR" dirty="0"/>
              <a:t>1~4</a:t>
            </a:r>
            <a:r>
              <a:rPr lang="ko-KR" altLang="en-US" dirty="0"/>
              <a:t>행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17900FC-DB66-7DAE-7B4C-7A18DAA6F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648" y="1325691"/>
            <a:ext cx="3560775" cy="11404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76AE1FA-6E3D-E77E-24D5-FAF7D11398E6}"/>
              </a:ext>
            </a:extLst>
          </p:cNvPr>
          <p:cNvSpPr txBox="1"/>
          <p:nvPr/>
        </p:nvSpPr>
        <p:spPr>
          <a:xfrm>
            <a:off x="193242" y="3304625"/>
            <a:ext cx="2161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 7 ~ 30</a:t>
            </a:r>
            <a:r>
              <a:rPr lang="ko-KR" altLang="en-US" sz="3200" dirty="0"/>
              <a:t>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D23DB1-9CB2-972C-D68F-95C900DA9C86}"/>
              </a:ext>
            </a:extLst>
          </p:cNvPr>
          <p:cNvSpPr txBox="1"/>
          <p:nvPr/>
        </p:nvSpPr>
        <p:spPr>
          <a:xfrm>
            <a:off x="544224" y="8110754"/>
            <a:ext cx="1768875" cy="1634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084AD8A1-6798-53CD-0DA3-8F90D4B12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6" y="1689696"/>
            <a:ext cx="635461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random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주사위 눈(1~6)을 무작위로 뽑기 위해 사용합니다.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time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AI가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주사위를 굴릴 때 멈칫하는 효과(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time.sleep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를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주기 위해 사용합니다.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tkinter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tk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파이썬 기본 GUI 라이브러리를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tk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라는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축약어로 가져옵니다.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messagebox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(현재 코드에선 쓰이지 않지만)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알림창을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띄울 때 쓰는 도구입니다.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6B8C7DD9-C56F-8DA9-4F12-D8F0F7E38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3518476"/>
            <a:ext cx="5902757" cy="3143689"/>
          </a:xfrm>
          <a:prstGeom prst="rect">
            <a:avLst/>
          </a:prstGeom>
        </p:spPr>
      </p:pic>
      <p:sp>
        <p:nvSpPr>
          <p:cNvPr id="39" name="Rectangle 9">
            <a:extLst>
              <a:ext uri="{FF2B5EF4-FFF2-40B4-BE49-F238E27FC236}">
                <a16:creationId xmlns:a16="http://schemas.microsoft.com/office/drawing/2014/main" id="{62F40EF5-B6B0-871F-3364-33A2C4D86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40799"/>
            <a:ext cx="609600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~ 7행: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DiceGameGUI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클래스를 만들고, 창이 생성될 때 실행될 초기화 함수(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__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__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를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정의합니다.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~ 11행: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게임 창의 제목, 크기(너비 450, 높이 500), 배경색(연한 푸른빛 공대 느낌의 회색)을 지정합니다.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 ~ 20행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화면 맨 위에 들어갈 대형 제목 글자(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🎲 주사위 대결 게임 🎲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)의 폰트, 배경색, 글자색을 설정합니다.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21행: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pack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pady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=20)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제목 레이블을 화면에 배치하고, 위아래 여백을 20만큼 줍니다.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806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ADCA0-7774-0419-C996-56332537C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594" y="538851"/>
            <a:ext cx="3932237" cy="755073"/>
          </a:xfrm>
        </p:spPr>
        <p:txBody>
          <a:bodyPr/>
          <a:lstStyle/>
          <a:p>
            <a:r>
              <a:rPr lang="en-US" altLang="ko-KR" dirty="0"/>
              <a:t>23 ~ 25</a:t>
            </a:r>
            <a:r>
              <a:rPr lang="ko-KR" altLang="en-US" dirty="0"/>
              <a:t>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17F042-CB5F-1D76-F4EF-D181167333D3}"/>
              </a:ext>
            </a:extLst>
          </p:cNvPr>
          <p:cNvSpPr txBox="1"/>
          <p:nvPr/>
        </p:nvSpPr>
        <p:spPr>
          <a:xfrm>
            <a:off x="439594" y="3006148"/>
            <a:ext cx="228636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27 ~ 50</a:t>
            </a:r>
            <a:r>
              <a:rPr lang="ko-KR" altLang="en-US" sz="3200" dirty="0"/>
              <a:t>행</a:t>
            </a:r>
            <a:endParaRPr lang="en-US" altLang="ko-KR" sz="3200" dirty="0"/>
          </a:p>
          <a:p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26DFF77-2C88-FDC3-C246-350A2FE49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265" y="1158448"/>
            <a:ext cx="3877216" cy="80021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33F3112-E9C4-E50F-66FF-341E3C2BF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538" y="2909454"/>
            <a:ext cx="4386807" cy="3803408"/>
          </a:xfrm>
          <a:prstGeom prst="rect">
            <a:avLst/>
          </a:prstGeom>
        </p:spPr>
      </p:pic>
      <p:sp>
        <p:nvSpPr>
          <p:cNvPr id="16" name="Rectangle 4">
            <a:extLst>
              <a:ext uri="{FF2B5EF4-FFF2-40B4-BE49-F238E27FC236}">
                <a16:creationId xmlns:a16="http://schemas.microsoft.com/office/drawing/2014/main" id="{EFF236E7-AF0D-BD84-A931-7F9192B55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73" y="1796093"/>
            <a:ext cx="456276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24행: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플레이어 영역과 AI 영역을 가로로 나란히 묶어줄 투명한 바구니(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만듭니다.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25행: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바구니를 화면 가운데에 배치합니다.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D61BD42B-5B34-7FC9-441A-9E39A141E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594" y="4029251"/>
            <a:ext cx="429490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28 ~ 38행: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테두리가 있는 상자 형태의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LabelFrame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을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만들어 플레이어 구역을 정의합니다. 글자는 파란색(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="#2b6cb0"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계열입니다.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39행: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grid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row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=0,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column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=0...)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바구니 안에서 왼쪽(0번 칸)에 배치합니다.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41 ~ 44행: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처음에는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❓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모양을 보여줄 큰 주사위 그림(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이모지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레이블입니다.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font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크기가 36으로 아주 큽니다.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46 ~ 50행: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주사위 눈의 숫자를 텍스트로 보여줄 레이블입니다. (기본값 "숫자: 0")</a:t>
            </a:r>
          </a:p>
        </p:txBody>
      </p:sp>
    </p:spTree>
    <p:extLst>
      <p:ext uri="{BB962C8B-B14F-4D97-AF65-F5344CB8AC3E}">
        <p14:creationId xmlns:p14="http://schemas.microsoft.com/office/powerpoint/2010/main" val="1637542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FE99574-21EF-3DCE-C9ED-7364E4A5B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256" y="87997"/>
            <a:ext cx="4484843" cy="30937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73E1CF9-6109-967E-6306-7A3BDFCB8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724" y="3429000"/>
            <a:ext cx="3827712" cy="3232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15F461-1076-63B8-5C65-F76359CE2C81}"/>
              </a:ext>
            </a:extLst>
          </p:cNvPr>
          <p:cNvSpPr txBox="1"/>
          <p:nvPr/>
        </p:nvSpPr>
        <p:spPr>
          <a:xfrm>
            <a:off x="674255" y="673848"/>
            <a:ext cx="254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52 ~ 75</a:t>
            </a:r>
            <a:r>
              <a:rPr lang="ko-KR" altLang="en-US" sz="3200" dirty="0"/>
              <a:t>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A1D2C9-D59B-A39C-2B58-38286E99E441}"/>
              </a:ext>
            </a:extLst>
          </p:cNvPr>
          <p:cNvSpPr txBox="1"/>
          <p:nvPr/>
        </p:nvSpPr>
        <p:spPr>
          <a:xfrm>
            <a:off x="674255" y="3429000"/>
            <a:ext cx="2105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77 ~ 98</a:t>
            </a:r>
            <a:r>
              <a:rPr lang="ko-KR" altLang="en-US" sz="3200" dirty="0"/>
              <a:t>행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9045152-ACE7-3E69-C2B0-65FEB41C5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1" y="1476575"/>
            <a:ext cx="586915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플레이어 영역과 완벽히 대칭되는 구조입니다.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63행: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grid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row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=0,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column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=1...)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플레이어 바로 오른쪽인 오른쪽(1번 칸)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에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배치합니다.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57행: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구역의 테두리 글자는 빨간색(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="#c53030"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계열로 차별화를 주었습니다.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08F695F-3277-68E1-2B3B-70CFB4530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1" y="4242651"/>
            <a:ext cx="5793264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78 ~ 85행: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중간 결과나 최종 승패("승리!", "패배!")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안내해 줄 문구 레이블입니다.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88 ~ 97행: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초록색(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="#48bb78"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)의 주사위 굴리기 버튼입니다. 마우스를 올리면 손가락 모양(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cursor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="hand2"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으로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변합니다.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94행: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command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self.play_round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이 버튼을 누르면 아래에 정의된 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play_round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함수가 실행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됩니다.</a:t>
            </a:r>
          </a:p>
        </p:txBody>
      </p:sp>
    </p:spTree>
    <p:extLst>
      <p:ext uri="{BB962C8B-B14F-4D97-AF65-F5344CB8AC3E}">
        <p14:creationId xmlns:p14="http://schemas.microsoft.com/office/powerpoint/2010/main" val="1724835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8B7E65-C556-EC3F-C019-244484087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576" y="467098"/>
            <a:ext cx="4518083" cy="156539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79D71D9-21FF-978D-9CFB-357E06DB4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209" y="2817089"/>
            <a:ext cx="4158819" cy="38030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A82F5C-048B-F08D-E4BF-E7B12F808E9B}"/>
              </a:ext>
            </a:extLst>
          </p:cNvPr>
          <p:cNvSpPr txBox="1"/>
          <p:nvPr/>
        </p:nvSpPr>
        <p:spPr>
          <a:xfrm>
            <a:off x="508000" y="665019"/>
            <a:ext cx="262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100 ~ 106</a:t>
            </a:r>
            <a:r>
              <a:rPr lang="ko-KR" altLang="en-US" sz="3200" dirty="0"/>
              <a:t>행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783955D-BE9B-CB56-3C6D-8214F75AC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1468536"/>
            <a:ext cx="5107708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 ~ 102행: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호출되면 1부터 6까지의 숫자 중 하나를 무작위로 선택해 돌려줍니다.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104 ~ 106행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전달받은 숫자(1~6)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에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매칭되는 특수문자 주사위 모양(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~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⚅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)을 찾아 변환해 줍니다.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027996-0561-25F7-AA3D-9303DF7F01F1}"/>
              </a:ext>
            </a:extLst>
          </p:cNvPr>
          <p:cNvSpPr txBox="1"/>
          <p:nvPr/>
        </p:nvSpPr>
        <p:spPr>
          <a:xfrm>
            <a:off x="508000" y="3029527"/>
            <a:ext cx="2992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108 ~ 140</a:t>
            </a:r>
            <a:r>
              <a:rPr lang="ko-KR" altLang="en-US" sz="3200" dirty="0"/>
              <a:t>행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1442C82-25B4-3775-A51F-A1381AF3B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3763684"/>
            <a:ext cx="6301428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110 ~ 111행: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사용자가 버튼을 마구 연타하는 것을 막기 위해, 누르는 즉시 버튼을 잠그고 텍스트를 "굴리는 중..."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으로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바꾼 뒤 화면을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새로고침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update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)합니다.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114 ~ 116행: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플레이어의 점수를 뽑고 화면의 주사위 모양과 텍스트를 즉시 변경합니다.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119 ~ 121행: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구역이 바뀌기 전, 안내창에 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주사위를 굴리는 중..."을 띄우고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0.8초간 프로그램을 잠깐 대기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시킵니다. (시각적 효과)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124 ~ 126행: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AI의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점수를 뽑고 AI 구역의 주사위 모양과 텍스트를 바꿉니다.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129 ~ 137행: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if-elif-else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구조로 플레이어 점수와 AI 점수를 비교하여 조건에 맞는 승리/패배/무승부 문구와 글자 색상을 지정합니다.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140행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라운드가 끝났으므로 비활성화했던 버튼을 다시 누를 수 있게 정상(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normal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상태로 되돌립니다.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982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5E9E002-DCDA-3E4B-872B-EB20BC1BC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520" y="1167167"/>
            <a:ext cx="2419688" cy="1143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6AA7EA-AA2B-545F-EE4D-FA0EA2FC73AE}"/>
              </a:ext>
            </a:extLst>
          </p:cNvPr>
          <p:cNvSpPr txBox="1"/>
          <p:nvPr/>
        </p:nvSpPr>
        <p:spPr>
          <a:xfrm>
            <a:off x="942108" y="779192"/>
            <a:ext cx="3131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144 ~ 147</a:t>
            </a:r>
            <a:r>
              <a:rPr lang="ko-KR" altLang="en-US" sz="3200" dirty="0"/>
              <a:t>행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953FB81-1450-09DA-827A-2E738FC30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46" y="1648607"/>
            <a:ext cx="692727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144행: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파일이 다른 곳에 서브 파일로 불러와진 게 아니라, 직접 실행되었는지를 확인합니다.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145행: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기본이 되는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윈도우 창(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root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)을 실제로 생성합니다.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146행: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우리가 위에서 설계한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DiceGameGUI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설계도에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root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창을 주입하여 게임 인스턴스를 만듭니다.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147행: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창이 닫히기 전까지 프로그램이 종료되지 않고 마우스 클릭 등의 이벤트를 계속 감지하며 대기하도록 루프를 돌립니다.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4048643-6E9C-ED2D-717B-95F7458F6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728" y="3235035"/>
            <a:ext cx="2905279" cy="333462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F9F22E4-0359-56F2-5BBC-D8F8870EF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273" y="3232726"/>
            <a:ext cx="3131127" cy="333462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FDD7B23-0999-BBB2-9C36-924951BAC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34" y="3232726"/>
            <a:ext cx="2795028" cy="333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296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4C9098-7BCC-03DD-FEC7-8FF72D22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546" y="894468"/>
            <a:ext cx="2154382" cy="558511"/>
          </a:xfrm>
        </p:spPr>
        <p:txBody>
          <a:bodyPr>
            <a:normAutofit fontScale="90000"/>
          </a:bodyPr>
          <a:lstStyle/>
          <a:p>
            <a:r>
              <a:rPr lang="ko-KR" altLang="en-US" dirty="0" err="1"/>
              <a:t>느낀점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1021B5-36B2-C1E6-20C6-3BDB409B2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863" y="2111812"/>
            <a:ext cx="11513555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600" dirty="0"/>
              <a:t>＂</a:t>
            </a:r>
            <a:r>
              <a:rPr lang="ko-KR" altLang="en-US" sz="1600" dirty="0"/>
              <a:t>다른 언어에 비해 쉽다</a:t>
            </a:r>
            <a:r>
              <a:rPr lang="en-US" altLang="ko-KR" sz="1600" dirty="0"/>
              <a:t>"</a:t>
            </a:r>
            <a:r>
              <a:rPr lang="ko-KR" altLang="en-US" sz="1600" dirty="0"/>
              <a:t>는 말에 용기를 내어 시작한 </a:t>
            </a:r>
            <a:r>
              <a:rPr lang="ko-KR" altLang="en-US" sz="1600" dirty="0" err="1"/>
              <a:t>파이썬이었지만</a:t>
            </a:r>
            <a:r>
              <a:rPr lang="en-US" altLang="ko-KR" sz="1600" dirty="0"/>
              <a:t>, </a:t>
            </a:r>
            <a:r>
              <a:rPr lang="ko-KR" altLang="en-US" sz="1600" dirty="0"/>
              <a:t>막상 마주한 프로그래밍의 세계는 생각만큼 다정하지 않았습니다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문법이 복잡해 질수록 끝없는 에러 메시지와의 사투가 시작되었고</a:t>
            </a:r>
            <a:r>
              <a:rPr lang="en-US" altLang="ko-KR" sz="1600" dirty="0"/>
              <a:t>, </a:t>
            </a:r>
            <a:r>
              <a:rPr lang="ko-KR" altLang="en-US" sz="1600" dirty="0"/>
              <a:t>눈에 보이지도 않는 들여쓰기 오류 하나에 여지없이 코드가 멈춰 설 때마다 깊은 좌절감을 느꼈습니다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빨갛게 쏟아지는 영어 에러 창은 마치 나에게 소질이 없다고 다그치는 것 같아 마주할 때마다 </a:t>
            </a:r>
            <a:r>
              <a:rPr lang="ko-KR" altLang="en-US" sz="1600" dirty="0" err="1"/>
              <a:t>힘듦었습니다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가장 힘들었던 것은 머리로는 이해해도 손끝에선 멈춰 버리는 논리의 벽이었습니다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이론을 들을 때는 고개를 </a:t>
            </a:r>
            <a:r>
              <a:rPr lang="ko-KR" altLang="en-US" sz="1600" dirty="0" err="1"/>
              <a:t>끄덕이다가도</a:t>
            </a:r>
            <a:r>
              <a:rPr lang="en-US" altLang="ko-KR" sz="1600" dirty="0"/>
              <a:t>, </a:t>
            </a:r>
            <a:r>
              <a:rPr lang="ko-KR" altLang="en-US" sz="1600" dirty="0"/>
              <a:t>막상 빈 화면에 스스로 코드를 짜려고 하면 단 한 줄도 적지 못하는 무력감에 빠졌습니다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특히 함수와 클래스 개념에 도달했을 때는 용어와 개념에서 완전히 길을 잃어버렸습니다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내가 지금 무엇을 모르는지조차 정의할 수 없는 막막함이 생기기도 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물론 오류를 해결하고 마침내 성공 메시지를 보았을 때는 짜릿했습니다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파이썬 입문은 나에게 새로운 외국어를 배우는 것만큼이나 지독한 끈기가 필요한 일임을 뼈저리게 가르쳐 주었습니다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비록 지금은 작은 버그 하나에도 쩔쩔매는 초보자이지만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이 낯선 텍스트들을 사용해 나중에는 더 다양한 코드들을 만들어보고 싶습니다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5392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EDC0A-3838-8C37-7BFC-59B79B431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08625" y="747826"/>
            <a:ext cx="10364451" cy="1596177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                나의 예상 점수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0D11A-0331-C629-44F5-9B69B3C52DDC}"/>
              </a:ext>
            </a:extLst>
          </p:cNvPr>
          <p:cNvSpPr txBox="1"/>
          <p:nvPr/>
        </p:nvSpPr>
        <p:spPr>
          <a:xfrm>
            <a:off x="3703782" y="2600487"/>
            <a:ext cx="58466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Git Hub: 15/15</a:t>
            </a:r>
          </a:p>
          <a:p>
            <a:r>
              <a:rPr lang="ko-KR" altLang="en-US" sz="2800" dirty="0"/>
              <a:t>프로젝트 발표</a:t>
            </a:r>
            <a:r>
              <a:rPr lang="en-US" altLang="ko-KR" sz="2800" dirty="0"/>
              <a:t>: 15/15</a:t>
            </a:r>
          </a:p>
          <a:p>
            <a:r>
              <a:rPr lang="ko-KR" altLang="en-US" sz="2800" dirty="0"/>
              <a:t>총합</a:t>
            </a:r>
            <a:r>
              <a:rPr lang="en-US" altLang="ko-KR" sz="2800" dirty="0"/>
              <a:t>: 30/30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243913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6A18AE-BF29-41B1-8871-E885505E354A}"/>
              </a:ext>
            </a:extLst>
          </p:cNvPr>
          <p:cNvSpPr txBox="1"/>
          <p:nvPr/>
        </p:nvSpPr>
        <p:spPr>
          <a:xfrm>
            <a:off x="4230255" y="2413337"/>
            <a:ext cx="45997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Thank you!</a:t>
            </a:r>
            <a:endParaRPr lang="ko-KR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753796427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물방울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물방울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물방울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TM04033925[[fn=물방울]]</Template>
  <TotalTime>139</TotalTime>
  <Words>942</Words>
  <Application>Microsoft Office PowerPoint</Application>
  <PresentationFormat>와이드스크린</PresentationFormat>
  <Paragraphs>66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Arial Unicode MS</vt:lpstr>
      <vt:lpstr>Arial</vt:lpstr>
      <vt:lpstr>Tw Cen MT</vt:lpstr>
      <vt:lpstr>물방울</vt:lpstr>
      <vt:lpstr>깃 허브와 주사위게임</vt:lpstr>
      <vt:lpstr>PowerPoint 프레젠테이션</vt:lpstr>
      <vt:lpstr>1주차 : 파이썬 기초</vt:lpstr>
      <vt:lpstr>PowerPoint 프레젠테이션</vt:lpstr>
      <vt:lpstr>2주차: 변수와 수식</vt:lpstr>
      <vt:lpstr>PowerPoint 프레젠테이션</vt:lpstr>
      <vt:lpstr>3주차: 조건문</vt:lpstr>
      <vt:lpstr>PowerPoint 프레젠테이션</vt:lpstr>
      <vt:lpstr>4주차: 반복문</vt:lpstr>
      <vt:lpstr>PowerPoint 프레젠테이션</vt:lpstr>
      <vt:lpstr>PowerPoint 프레젠테이션</vt:lpstr>
      <vt:lpstr>5주차: 함수</vt:lpstr>
      <vt:lpstr>PowerPoint 프레젠테이션</vt:lpstr>
      <vt:lpstr>PowerPoint 프레젠테이션</vt:lpstr>
      <vt:lpstr>6주차: 파이썬 자료구조(리스트)</vt:lpstr>
      <vt:lpstr>PowerPoint 프레젠테이션</vt:lpstr>
      <vt:lpstr>PowerPoint 프레젠테이션</vt:lpstr>
      <vt:lpstr>7주차: 파이썬 자료구조(튜플, 딕셔너리, 세트, 문자열)</vt:lpstr>
      <vt:lpstr>PowerPoint 프레젠테이션</vt:lpstr>
      <vt:lpstr>8주차: 객체와 클래스</vt:lpstr>
      <vt:lpstr>주사위 게임 </vt:lpstr>
      <vt:lpstr>1~4행</vt:lpstr>
      <vt:lpstr>23 ~ 25행</vt:lpstr>
      <vt:lpstr>PowerPoint 프레젠테이션</vt:lpstr>
      <vt:lpstr>PowerPoint 프레젠테이션</vt:lpstr>
      <vt:lpstr>PowerPoint 프레젠테이션</vt:lpstr>
      <vt:lpstr>느낀점</vt:lpstr>
      <vt:lpstr>                나의 예상 점수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Fyjs Ko</dc:creator>
  <cp:lastModifiedBy>Fyjs Ko</cp:lastModifiedBy>
  <cp:revision>1</cp:revision>
  <dcterms:created xsi:type="dcterms:W3CDTF">2026-06-10T05:49:52Z</dcterms:created>
  <dcterms:modified xsi:type="dcterms:W3CDTF">2026-06-10T08:09:05Z</dcterms:modified>
</cp:coreProperties>
</file>